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"/>
          <p:cNvGrpSpPr/>
          <p:nvPr/>
        </p:nvGrpSpPr>
        <p:grpSpPr>
          <a:xfrm>
            <a:off x="6264079" y="2004741"/>
            <a:ext cx="4114801" cy="2445214"/>
            <a:chOff x="0" y="0"/>
            <a:chExt cx="4114800" cy="2445212"/>
          </a:xfrm>
        </p:grpSpPr>
        <p:sp>
          <p:nvSpPr>
            <p:cNvPr id="151" name="Admin Service"/>
            <p:cNvSpPr/>
            <p:nvPr/>
          </p:nvSpPr>
          <p:spPr>
            <a:xfrm>
              <a:off x="0" y="0"/>
              <a:ext cx="4114801" cy="520700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Admin Service</a:t>
              </a:r>
            </a:p>
          </p:txBody>
        </p:sp>
        <p:sp>
          <p:nvSpPr>
            <p:cNvPr id="152" name="Manage RBAC…"/>
            <p:cNvSpPr/>
            <p:nvPr/>
          </p:nvSpPr>
          <p:spPr>
            <a:xfrm>
              <a:off x="1055720" y="622299"/>
              <a:ext cx="2003360" cy="1822914"/>
            </a:xfrm>
            <a:prstGeom prst="roundRect">
              <a:avLst>
                <a:gd name="adj" fmla="val 15000"/>
              </a:avLst>
            </a:prstGeom>
            <a:solidFill>
              <a:srgbClr val="5E53DC">
                <a:alpha val="5000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Manage RBAC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Set pipeline parameters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Get pipeline logs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Manage libraries</a:t>
              </a:r>
            </a:p>
          </p:txBody>
        </p:sp>
      </p:grpSp>
      <p:grpSp>
        <p:nvGrpSpPr>
          <p:cNvPr id="156" name="Group"/>
          <p:cNvGrpSpPr/>
          <p:nvPr/>
        </p:nvGrpSpPr>
        <p:grpSpPr>
          <a:xfrm>
            <a:off x="13538200" y="2004741"/>
            <a:ext cx="4114800" cy="2445214"/>
            <a:chOff x="0" y="0"/>
            <a:chExt cx="4114800" cy="2445212"/>
          </a:xfrm>
        </p:grpSpPr>
        <p:sp>
          <p:nvSpPr>
            <p:cNvPr id="154" name="Data Service"/>
            <p:cNvSpPr/>
            <p:nvPr/>
          </p:nvSpPr>
          <p:spPr>
            <a:xfrm>
              <a:off x="0" y="0"/>
              <a:ext cx="4114801" cy="520700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Data Service</a:t>
              </a:r>
            </a:p>
          </p:txBody>
        </p:sp>
        <p:sp>
          <p:nvSpPr>
            <p:cNvPr id="155" name="Run ETL/ELT functions…"/>
            <p:cNvSpPr/>
            <p:nvPr/>
          </p:nvSpPr>
          <p:spPr>
            <a:xfrm>
              <a:off x="1055720" y="622299"/>
              <a:ext cx="2003360" cy="1822914"/>
            </a:xfrm>
            <a:prstGeom prst="roundRect">
              <a:avLst>
                <a:gd name="adj" fmla="val 15000"/>
              </a:avLst>
            </a:prstGeom>
            <a:solidFill>
              <a:srgbClr val="AEA9E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Run ETL/ELT functions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Augment datasets from ML service and other datasets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Enable broad data access</a:t>
              </a:r>
            </a:p>
          </p:txBody>
        </p:sp>
      </p:grpSp>
      <p:grpSp>
        <p:nvGrpSpPr>
          <p:cNvPr id="159" name="Group"/>
          <p:cNvGrpSpPr/>
          <p:nvPr/>
        </p:nvGrpSpPr>
        <p:grpSpPr>
          <a:xfrm>
            <a:off x="6276779" y="6427176"/>
            <a:ext cx="4114801" cy="2445214"/>
            <a:chOff x="0" y="0"/>
            <a:chExt cx="4114800" cy="2445212"/>
          </a:xfrm>
        </p:grpSpPr>
        <p:sp>
          <p:nvSpPr>
            <p:cNvPr id="157" name="ML/AI Service"/>
            <p:cNvSpPr/>
            <p:nvPr/>
          </p:nvSpPr>
          <p:spPr>
            <a:xfrm>
              <a:off x="0" y="0"/>
              <a:ext cx="4114801" cy="520700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ML/AI Service</a:t>
              </a:r>
            </a:p>
          </p:txBody>
        </p:sp>
        <p:sp>
          <p:nvSpPr>
            <p:cNvPr id="158" name="Train models with user defined functions…"/>
            <p:cNvSpPr/>
            <p:nvPr/>
          </p:nvSpPr>
          <p:spPr>
            <a:xfrm>
              <a:off x="1055720" y="622299"/>
              <a:ext cx="2003360" cy="1822914"/>
            </a:xfrm>
            <a:prstGeom prst="roundRect">
              <a:avLst>
                <a:gd name="adj" fmla="val 15000"/>
              </a:avLst>
            </a:prstGeom>
            <a:solidFill>
              <a:srgbClr val="AEA9E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Train models with user defined functions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Generate inferences by case or batches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Provide model metadata</a:t>
              </a:r>
            </a:p>
          </p:txBody>
        </p:sp>
      </p:grpSp>
      <p:grpSp>
        <p:nvGrpSpPr>
          <p:cNvPr id="162" name="Group"/>
          <p:cNvGrpSpPr/>
          <p:nvPr/>
        </p:nvGrpSpPr>
        <p:grpSpPr>
          <a:xfrm>
            <a:off x="13538200" y="6008076"/>
            <a:ext cx="4114800" cy="2864314"/>
            <a:chOff x="0" y="0"/>
            <a:chExt cx="4114800" cy="2864312"/>
          </a:xfrm>
        </p:grpSpPr>
        <p:sp>
          <p:nvSpPr>
            <p:cNvPr id="160" name="Analytics/Reporting Service"/>
            <p:cNvSpPr/>
            <p:nvPr/>
          </p:nvSpPr>
          <p:spPr>
            <a:xfrm>
              <a:off x="0" y="0"/>
              <a:ext cx="4114801" cy="93980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Analytics/Reporting Service</a:t>
              </a:r>
            </a:p>
          </p:txBody>
        </p:sp>
        <p:sp>
          <p:nvSpPr>
            <p:cNvPr id="161" name="Run reporting functions…"/>
            <p:cNvSpPr/>
            <p:nvPr/>
          </p:nvSpPr>
          <p:spPr>
            <a:xfrm>
              <a:off x="1055720" y="1041400"/>
              <a:ext cx="2003360" cy="1822913"/>
            </a:xfrm>
            <a:prstGeom prst="roundRect">
              <a:avLst>
                <a:gd name="adj" fmla="val 15000"/>
              </a:avLst>
            </a:prstGeom>
            <a:solidFill>
              <a:srgbClr val="AEA9E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Run reporting functions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Generate charts, tables, maps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Provide metadata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Communicate up command chain</a:t>
              </a:r>
            </a:p>
          </p:txBody>
        </p:sp>
      </p:grpSp>
      <p:grpSp>
        <p:nvGrpSpPr>
          <p:cNvPr id="165" name="Group"/>
          <p:cNvGrpSpPr/>
          <p:nvPr/>
        </p:nvGrpSpPr>
        <p:grpSpPr>
          <a:xfrm>
            <a:off x="9907489" y="2835304"/>
            <a:ext cx="4114801" cy="2445214"/>
            <a:chOff x="0" y="0"/>
            <a:chExt cx="4114800" cy="2445212"/>
          </a:xfrm>
        </p:grpSpPr>
        <p:sp>
          <p:nvSpPr>
            <p:cNvPr id="163" name="SQL DB"/>
            <p:cNvSpPr/>
            <p:nvPr/>
          </p:nvSpPr>
          <p:spPr>
            <a:xfrm>
              <a:off x="0" y="0"/>
              <a:ext cx="4114801" cy="520700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SQL DB</a:t>
              </a:r>
            </a:p>
          </p:txBody>
        </p:sp>
        <p:sp>
          <p:nvSpPr>
            <p:cNvPr id="164" name="RBAC…"/>
            <p:cNvSpPr/>
            <p:nvPr/>
          </p:nvSpPr>
          <p:spPr>
            <a:xfrm>
              <a:off x="1055720" y="622299"/>
              <a:ext cx="2003360" cy="1822914"/>
            </a:xfrm>
            <a:prstGeom prst="roundRect">
              <a:avLst>
                <a:gd name="adj" fmla="val 15000"/>
              </a:avLst>
            </a:prstGeom>
            <a:solidFill>
              <a:srgbClr val="CD5247">
                <a:alpha val="5000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RBAC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Store/use semantic layer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GIS and Vector Extensions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Aggregates (gold layer) data</a:t>
              </a:r>
            </a:p>
          </p:txBody>
        </p:sp>
      </p:grpSp>
      <p:grpSp>
        <p:nvGrpSpPr>
          <p:cNvPr id="168" name="Group"/>
          <p:cNvGrpSpPr/>
          <p:nvPr/>
        </p:nvGrpSpPr>
        <p:grpSpPr>
          <a:xfrm>
            <a:off x="9907489" y="5739524"/>
            <a:ext cx="4114801" cy="2445214"/>
            <a:chOff x="0" y="0"/>
            <a:chExt cx="4114800" cy="2445212"/>
          </a:xfrm>
        </p:grpSpPr>
        <p:sp>
          <p:nvSpPr>
            <p:cNvPr id="166" name="Data Lake"/>
            <p:cNvSpPr/>
            <p:nvPr/>
          </p:nvSpPr>
          <p:spPr>
            <a:xfrm>
              <a:off x="0" y="0"/>
              <a:ext cx="4114801" cy="520700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Data Lake</a:t>
              </a:r>
            </a:p>
          </p:txBody>
        </p:sp>
        <p:sp>
          <p:nvSpPr>
            <p:cNvPr id="167" name="Structured data runs on Apache Iceberg/Parquet…"/>
            <p:cNvSpPr/>
            <p:nvPr/>
          </p:nvSpPr>
          <p:spPr>
            <a:xfrm>
              <a:off x="1055720" y="622299"/>
              <a:ext cx="2003360" cy="1822914"/>
            </a:xfrm>
            <a:prstGeom prst="roundRect">
              <a:avLst>
                <a:gd name="adj" fmla="val 15000"/>
              </a:avLst>
            </a:prstGeom>
            <a:solidFill>
              <a:srgbClr val="E6A8A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Structured data runs on Apache Iceberg/Parquet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Unstructured data may be stored here</a:t>
              </a:r>
            </a:p>
          </p:txBody>
        </p:sp>
      </p:grpSp>
      <p:grpSp>
        <p:nvGrpSpPr>
          <p:cNvPr id="171" name="Group"/>
          <p:cNvGrpSpPr/>
          <p:nvPr/>
        </p:nvGrpSpPr>
        <p:grpSpPr>
          <a:xfrm>
            <a:off x="9907489" y="8643746"/>
            <a:ext cx="4114801" cy="2445213"/>
            <a:chOff x="0" y="0"/>
            <a:chExt cx="4114800" cy="2445212"/>
          </a:xfrm>
        </p:grpSpPr>
        <p:sp>
          <p:nvSpPr>
            <p:cNvPr id="169" name="Git Repository"/>
            <p:cNvSpPr/>
            <p:nvPr/>
          </p:nvSpPr>
          <p:spPr>
            <a:xfrm>
              <a:off x="0" y="0"/>
              <a:ext cx="4114801" cy="520700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7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lvl1pPr>
            </a:lstStyle>
            <a:p>
              <a:pPr/>
              <a:r>
                <a:t>Git Repository</a:t>
              </a:r>
            </a:p>
          </p:txBody>
        </p:sp>
        <p:sp>
          <p:nvSpPr>
            <p:cNvPr id="170" name="Source control applications…"/>
            <p:cNvSpPr/>
            <p:nvPr/>
          </p:nvSpPr>
          <p:spPr>
            <a:xfrm>
              <a:off x="1055720" y="622299"/>
              <a:ext cx="2003360" cy="1822914"/>
            </a:xfrm>
            <a:prstGeom prst="roundRect">
              <a:avLst>
                <a:gd name="adj" fmla="val 15000"/>
              </a:avLst>
            </a:prstGeom>
            <a:solidFill>
              <a:srgbClr val="AEA9E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Source control applications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Support  for CI/CD to all services</a:t>
              </a:r>
            </a:p>
            <a:p>
              <a:pPr marL="152400" indent="-152400" algn="l" defTabSz="825500">
                <a:buSzPct val="123000"/>
                <a:buChar char="•"/>
                <a:defRPr sz="1400">
                  <a:solidFill>
                    <a:srgbClr val="000000"/>
                  </a:solidFill>
                  <a:latin typeface="Arboria Book"/>
                  <a:ea typeface="Arboria Book"/>
                  <a:cs typeface="Arboria Book"/>
                  <a:sym typeface="Arboria Book"/>
                </a:defRPr>
              </a:pPr>
              <a:r>
                <a:t>Support code documentation</a:t>
              </a:r>
            </a:p>
          </p:txBody>
        </p:sp>
      </p:grpSp>
      <p:sp>
        <p:nvSpPr>
          <p:cNvPr id="172" name="Integrated Observability Network IONe"/>
          <p:cNvSpPr txBox="1"/>
          <p:nvPr/>
        </p:nvSpPr>
        <p:spPr>
          <a:xfrm>
            <a:off x="8438705" y="736599"/>
            <a:ext cx="750659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>
                <a:solidFill>
                  <a:srgbClr val="000000"/>
                </a:solidFill>
                <a:latin typeface="Arboria Book"/>
                <a:ea typeface="Arboria Book"/>
                <a:cs typeface="Arboria Book"/>
                <a:sym typeface="Arboria Book"/>
              </a:defRPr>
            </a:lvl1pPr>
          </a:lstStyle>
          <a:p>
            <a:pPr/>
            <a:r>
              <a:t>Integrated Observability Network IONe</a:t>
            </a:r>
          </a:p>
        </p:txBody>
      </p:sp>
      <p:pic>
        <p:nvPicPr>
          <p:cNvPr id="173" name="Morton-IONe-Sticker.png" descr="Morton-IONe-Stick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77203" y="0"/>
            <a:ext cx="2003361" cy="23014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Morton-Primary-Stacked-Full-Color.png" descr="Morton-Primary-Stacked-Full-Colo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78450" y="419482"/>
            <a:ext cx="2528347" cy="146245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Design Principles…"/>
          <p:cNvSpPr txBox="1"/>
          <p:nvPr/>
        </p:nvSpPr>
        <p:spPr>
          <a:xfrm>
            <a:off x="17241054" y="3448110"/>
            <a:ext cx="2898037" cy="2590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/>
            </a:pPr>
            <a:r>
              <a:t>Design Principles</a:t>
            </a:r>
          </a:p>
          <a:p>
            <a:pPr>
              <a:lnSpc>
                <a:spcPct val="120000"/>
              </a:lnSpc>
            </a:pPr>
            <a:r>
              <a:t>Modular</a:t>
            </a:r>
          </a:p>
          <a:p>
            <a:pPr>
              <a:lnSpc>
                <a:spcPct val="120000"/>
              </a:lnSpc>
            </a:pPr>
            <a:r>
              <a:t>Composable</a:t>
            </a:r>
          </a:p>
          <a:p>
            <a:pPr>
              <a:lnSpc>
                <a:spcPct val="120000"/>
              </a:lnSpc>
            </a:pPr>
            <a:r>
              <a:t>Cloud-first</a:t>
            </a:r>
          </a:p>
          <a:p>
            <a:pPr>
              <a:lnSpc>
                <a:spcPct val="120000"/>
              </a:lnSpc>
            </a:pPr>
            <a:r>
              <a:t>Microservice-first</a:t>
            </a:r>
          </a:p>
          <a:p>
            <a:pPr>
              <a:lnSpc>
                <a:spcPct val="120000"/>
              </a:lnSpc>
            </a:pPr>
            <a:r>
              <a:t>Production-first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